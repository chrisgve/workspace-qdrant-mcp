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xample.com/doc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Sample Markdown Document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Test Author</a:t>
            </a:r>
          </a:p>
        </p:txBody>
      </p:sp>
      <p:sp>
        <p:nvSpPr>
          <p:cNvPr id="4" name="Date Placeholder 3"/>
          <p:cNvSpPr>
            <a:spLocks noGrp="1"/>
          </p:cNvSpPr>
          <p:nvPr>
            <p:ph idx="10" sz="half" type="dt"/>
          </p:nvPr>
        </p:nvSpPr>
        <p:spPr/>
        <p:txBody>
          <a:bodyPr/>
          <a:lstStyle/>
          <a:p>
            <a:pPr lvl="0" indent="0" marL="0">
              <a:buNone/>
            </a:pPr>
            <a:r>
              <a:rPr/>
              <a:t>2025-01-15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Introduction</a:t>
            </a:r>
          </a:p>
        </p:txBody>
      </p:sp>
      <p:sp>
        <p:nvSpPr>
          <p:cNvPr id="4" name="Text Placeholder 3"/>
          <p:cNvSpPr>
            <a:spLocks noGrp="1"/>
          </p:cNvSpPr>
          <p:nvPr>
            <p:ph idx="2" sz="half" type="body"/>
          </p:nvPr>
        </p:nvSpPr>
        <p:spPr/>
        <p:txBody>
          <a:bodyPr/>
          <a:lstStyle/>
          <a:p>
            <a:pPr lvl="0" indent="0" marL="0">
              <a:buNone/>
            </a:pPr>
            <a:r>
              <a:rPr/>
              <a:t>This is a sample Markdown document used for testing library document ingestion. It contains multiple heading levels, code blocks, and various formatting elements to validate the stream-based extraction pipeline.</a:t>
            </a:r>
          </a:p>
          <a:p>
            <a:pPr lvl="0" indent="0" marL="0">
              <a:spcBef>
                <a:spcPts val="3000"/>
              </a:spcBef>
              <a:buNone/>
            </a:pPr>
            <a:r>
              <a:rPr b="1"/>
              <a:t>Section 1: Text Content</a:t>
            </a:r>
          </a:p>
          <a:p>
            <a:pPr lvl="0" indent="0" marL="0">
              <a:buNone/>
            </a:pPr>
            <a:r>
              <a:rPr/>
              <a:t>Lorem ipsum dolor sit amet, consectetur adipiscing elit. Sed do eiusmod tempor incididunt ut labore et dolore magna aliqua. Ut enim ad minim veniam, quis nostrud exercitation ullamco laboris nisi ut aliquip ex ea commodo consequat.</a:t>
            </a:r>
          </a:p>
          <a:p>
            <a:pPr lvl="0" indent="0" marL="0">
              <a:buNone/>
            </a:pPr>
            <a:r>
              <a:rPr/>
              <a:t>Duis aute irure dolor in reprehenderit in voluptate velit esse cillum dolore eu fugiat nulla pariatur. Excepteur sint occaecat cupidatat non proident, sunt in culpa qui officia deserunt mollit anim id est laborum.</a:t>
            </a:r>
          </a:p>
          <a:p>
            <a:pPr lvl="0" indent="0" marL="0">
              <a:spcBef>
                <a:spcPts val="3000"/>
              </a:spcBef>
              <a:buNone/>
            </a:pPr>
            <a:r>
              <a:rPr b="1"/>
              <a:t>Subsection 1.1: Lists</a:t>
            </a:r>
          </a:p>
          <a:p>
            <a:pPr lvl="0"/>
            <a:r>
              <a:rPr/>
              <a:t>First item in unordered list</a:t>
            </a:r>
          </a:p>
          <a:p>
            <a:pPr lvl="0"/>
            <a:r>
              <a:rPr/>
              <a:t>Second item with </a:t>
            </a:r>
            <a:r>
              <a:rPr b="1"/>
              <a:t>bold text</a:t>
            </a:r>
          </a:p>
          <a:p>
            <a:pPr lvl="0"/>
            <a:r>
              <a:rPr/>
              <a:t>Third item with </a:t>
            </a:r>
            <a:r>
              <a:rPr i="1"/>
              <a:t>italic text</a:t>
            </a:r>
          </a:p>
          <a:p>
            <a:pPr lvl="0"/>
            <a:r>
              <a:rPr/>
              <a:t>Fourth item with </a:t>
            </a:r>
            <a:r>
              <a:rPr>
                <a:latin typeface="Courier"/>
              </a:rPr>
              <a:t>inline code</a:t>
            </a:r>
          </a:p>
          <a:p>
            <a:pPr lvl="0" indent="-342900" marL="342900">
              <a:buAutoNum type="arabicPeriod"/>
            </a:pPr>
            <a:r>
              <a:rPr/>
              <a:t>First ordered item</a:t>
            </a:r>
          </a:p>
          <a:p>
            <a:pPr lvl="0" indent="-342900" marL="342900">
              <a:buAutoNum type="arabicPeriod"/>
            </a:pPr>
            <a:r>
              <a:rPr/>
              <a:t>Second ordered item</a:t>
            </a:r>
          </a:p>
          <a:p>
            <a:pPr lvl="0" indent="-342900" marL="342900">
              <a:buAutoNum type="arabicPeriod"/>
            </a:pPr>
            <a:r>
              <a:rPr/>
              <a:t>Third ordered item</a:t>
            </a:r>
          </a:p>
          <a:p>
            <a:pPr lvl="0" indent="0" marL="0">
              <a:spcBef>
                <a:spcPts val="3000"/>
              </a:spcBef>
              <a:buNone/>
            </a:pPr>
            <a:r>
              <a:rPr b="1"/>
              <a:t>Subsection 1.2: Code Blocks</a:t>
            </a:r>
          </a:p>
          <a:p>
            <a:pPr lvl="0" indent="0">
              <a:buNone/>
            </a:pPr>
            <a:r>
              <a:rPr b="1">
                <a:solidFill>
                  <a:srgbClr val="007020"/>
                </a:solidFill>
                <a:latin typeface="Courier"/>
              </a:rPr>
              <a:t>def</a:t>
            </a:r>
            <a:r>
              <a:rPr>
                <a:latin typeface="Courier"/>
              </a:rPr>
              <a:t> fibonacci(n: </a:t>
            </a:r>
            <a:r>
              <a:rPr>
                <a:solidFill>
                  <a:srgbClr val="008000"/>
                </a:solidFill>
                <a:latin typeface="Courier"/>
              </a:rPr>
              <a:t>int</a:t>
            </a:r>
            <a:r>
              <a:rPr>
                <a:latin typeface="Courier"/>
              </a:rPr>
              <a:t>) </a:t>
            </a:r>
            <a:r>
              <a:rPr>
                <a:solidFill>
                  <a:srgbClr val="666666"/>
                </a:solidFill>
                <a:latin typeface="Courier"/>
              </a:rPr>
              <a:t>-&gt;</a:t>
            </a:r>
            <a:r>
              <a:rPr>
                <a:latin typeface="Courier"/>
              </a:rPr>
              <a:t> </a:t>
            </a:r>
            <a:r>
              <a:rPr>
                <a:solidFill>
                  <a:srgbClr val="008000"/>
                </a:solidFill>
                <a:latin typeface="Courier"/>
              </a:rPr>
              <a:t>int</a:t>
            </a:r>
            <a:r>
              <a:rPr>
                <a:latin typeface="Courier"/>
              </a:rPr>
              <a:t>:</a:t>
            </a:r>
            <a:br/>
            <a:r>
              <a:rPr>
                <a:latin typeface="Courier"/>
              </a:rPr>
              <a:t>    </a:t>
            </a:r>
            <a:r>
              <a:rPr i="1">
                <a:solidFill>
                  <a:srgbClr val="60A0B0"/>
                </a:solidFill>
                <a:latin typeface="Courier"/>
              </a:rPr>
              <a:t>"""Calculate the nth Fibonacci number."""</a:t>
            </a:r>
            <a:br/>
            <a:r>
              <a:rPr>
                <a:latin typeface="Courier"/>
              </a:rPr>
              <a:t>    </a:t>
            </a:r>
            <a:r>
              <a:rPr b="1">
                <a:solidFill>
                  <a:srgbClr val="007020"/>
                </a:solidFill>
                <a:latin typeface="Courier"/>
              </a:rPr>
              <a:t>if</a:t>
            </a:r>
            <a:r>
              <a:rPr>
                <a:latin typeface="Courier"/>
              </a:rPr>
              <a:t> n </a:t>
            </a:r>
            <a:r>
              <a:rPr>
                <a:solidFill>
                  <a:srgbClr val="666666"/>
                </a:solidFill>
                <a:latin typeface="Courier"/>
              </a:rPr>
              <a:t>&lt;=</a:t>
            </a:r>
            <a:r>
              <a:rPr>
                <a:latin typeface="Courier"/>
              </a:rPr>
              <a:t> </a:t>
            </a:r>
            <a:r>
              <a:rPr>
                <a:solidFill>
                  <a:srgbClr val="40A070"/>
                </a:solidFill>
                <a:latin typeface="Courier"/>
              </a:rPr>
              <a:t>1</a:t>
            </a:r>
            <a:r>
              <a:rPr>
                <a:latin typeface="Courier"/>
              </a:rPr>
              <a:t>:</a:t>
            </a:r>
            <a:br/>
            <a:r>
              <a:rPr>
                <a:latin typeface="Courier"/>
              </a:rPr>
              <a:t>        </a:t>
            </a:r>
            <a:r>
              <a:rPr b="1">
                <a:solidFill>
                  <a:srgbClr val="007020"/>
                </a:solidFill>
                <a:latin typeface="Courier"/>
              </a:rPr>
              <a:t>return</a:t>
            </a:r>
            <a:r>
              <a:rPr>
                <a:latin typeface="Courier"/>
              </a:rPr>
              <a:t> n</a:t>
            </a:r>
            <a:br/>
            <a:r>
              <a:rPr>
                <a:latin typeface="Courier"/>
              </a:rPr>
              <a:t>    </a:t>
            </a:r>
            <a:r>
              <a:rPr b="1">
                <a:solidFill>
                  <a:srgbClr val="007020"/>
                </a:solidFill>
                <a:latin typeface="Courier"/>
              </a:rPr>
              <a:t>return</a:t>
            </a:r>
            <a:r>
              <a:rPr>
                <a:latin typeface="Courier"/>
              </a:rPr>
              <a:t> fibonacci(n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fibonacci(n </a:t>
            </a:r>
            <a:r>
              <a:rPr>
                <a:solidFill>
                  <a:srgbClr val="666666"/>
                </a:solidFill>
                <a:latin typeface="Courier"/>
              </a:rPr>
              <a:t>-</a:t>
            </a:r>
            <a:r>
              <a:rPr>
                <a:latin typeface="Courier"/>
              </a:rPr>
              <a:t> </a:t>
            </a:r>
            <a:r>
              <a:rPr>
                <a:solidFill>
                  <a:srgbClr val="40A070"/>
                </a:solidFill>
                <a:latin typeface="Courier"/>
              </a:rPr>
              <a:t>2</a:t>
            </a:r>
            <a:r>
              <a:rPr>
                <a:latin typeface="Courier"/>
              </a:rPr>
              <a:t>)</a:t>
            </a:r>
            <a:br/>
            <a:br/>
            <a:br/>
            <a:r>
              <a:rPr i="1">
                <a:solidFill>
                  <a:srgbClr val="60A0B0"/>
                </a:solidFill>
                <a:latin typeface="Courier"/>
              </a:rPr>
              <a:t># Example usage</a:t>
            </a: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008000"/>
                </a:solidFill>
                <a:latin typeface="Courier"/>
              </a:rPr>
              <a:t>range</a:t>
            </a:r>
            <a:r>
              <a:rPr>
                <a:latin typeface="Courier"/>
              </a:rPr>
              <a:t>(</a:t>
            </a:r>
            <a:r>
              <a:rPr>
                <a:solidFill>
                  <a:srgbClr val="40A070"/>
                </a:solidFill>
                <a:latin typeface="Courier"/>
              </a:rPr>
              <a:t>10</a:t>
            </a:r>
            <a:r>
              <a:rPr>
                <a:latin typeface="Courier"/>
              </a:rPr>
              <a:t>):</a:t>
            </a:r>
            <a:br/>
            <a:r>
              <a:rPr>
                <a:latin typeface="Courier"/>
              </a:rPr>
              <a:t>    </a:t>
            </a:r>
            <a:r>
              <a:rPr>
                <a:solidFill>
                  <a:srgbClr val="008000"/>
                </a:solidFill>
                <a:latin typeface="Courier"/>
              </a:rPr>
              <a:t>print</a:t>
            </a:r>
            <a:r>
              <a:rPr>
                <a:latin typeface="Courier"/>
              </a:rPr>
              <a:t>(</a:t>
            </a:r>
            <a:r>
              <a:rPr>
                <a:solidFill>
                  <a:srgbClr val="BB6688"/>
                </a:solidFill>
                <a:latin typeface="Courier"/>
              </a:rPr>
              <a:t>f"F(</a:t>
            </a:r>
            <a:r>
              <a:rPr>
                <a:solidFill>
                  <a:srgbClr val="4070A0"/>
                </a:solidFill>
                <a:latin typeface="Courier"/>
              </a:rPr>
              <a:t>{</a:t>
            </a:r>
            <a:r>
              <a:rPr>
                <a:latin typeface="Courier"/>
              </a:rPr>
              <a:t>i</a:t>
            </a:r>
            <a:r>
              <a:rPr>
                <a:solidFill>
                  <a:srgbClr val="4070A0"/>
                </a:solidFill>
                <a:latin typeface="Courier"/>
              </a:rPr>
              <a:t>}</a:t>
            </a:r>
            <a:r>
              <a:rPr>
                <a:solidFill>
                  <a:srgbClr val="BB6688"/>
                </a:solidFill>
                <a:latin typeface="Courier"/>
              </a:rPr>
              <a:t>) = </a:t>
            </a:r>
            <a:r>
              <a:rPr>
                <a:solidFill>
                  <a:srgbClr val="4070A0"/>
                </a:solidFill>
                <a:latin typeface="Courier"/>
              </a:rPr>
              <a:t>{</a:t>
            </a:r>
            <a:r>
              <a:rPr>
                <a:latin typeface="Courier"/>
              </a:rPr>
              <a:t>fibonacci(i)</a:t>
            </a:r>
            <a:r>
              <a:rPr>
                <a:solidFill>
                  <a:srgbClr val="4070A0"/>
                </a:solidFill>
                <a:latin typeface="Courier"/>
              </a:rPr>
              <a:t>}</a:t>
            </a:r>
            <a:r>
              <a:rPr>
                <a:solidFill>
                  <a:srgbClr val="BB6688"/>
                </a:solidFill>
                <a:latin typeface="Courier"/>
              </a:rPr>
              <a:t>"</a:t>
            </a:r>
            <a:r>
              <a:rPr>
                <a:latin typeface="Courier"/>
              </a:rPr>
              <a:t>)</a:t>
            </a:r>
          </a:p>
          <a:p>
            <a:pPr lvl="0" indent="0">
              <a:buNone/>
            </a:pPr>
            <a:r>
              <a:rPr b="1">
                <a:solidFill>
                  <a:srgbClr val="007020"/>
                </a:solidFill>
                <a:latin typeface="Courier"/>
              </a:rPr>
              <a:t>fn</a:t>
            </a:r>
            <a:r>
              <a:rPr>
                <a:latin typeface="Courier"/>
              </a:rPr>
              <a:t> main() </a:t>
            </a:r>
            <a:r>
              <a:rPr>
                <a:solidFill>
                  <a:srgbClr val="666666"/>
                </a:solidFill>
                <a:latin typeface="Courier"/>
              </a:rPr>
              <a:t>{</a:t>
            </a:r>
            <a:br/>
            <a:r>
              <a:rPr>
                <a:latin typeface="Courier"/>
              </a:rPr>
              <a:t>    </a:t>
            </a:r>
            <a:r>
              <a:rPr b="1">
                <a:solidFill>
                  <a:srgbClr val="007020"/>
                </a:solidFill>
                <a:latin typeface="Courier"/>
              </a:rPr>
              <a:t>let</a:t>
            </a:r>
            <a:r>
              <a:rPr>
                <a:latin typeface="Courier"/>
              </a:rPr>
              <a:t> numbers</a:t>
            </a:r>
            <a:r>
              <a:rPr>
                <a:solidFill>
                  <a:srgbClr val="666666"/>
                </a:solidFill>
                <a:latin typeface="Courier"/>
              </a:rPr>
              <a:t>:</a:t>
            </a:r>
            <a:r>
              <a:rPr>
                <a:latin typeface="Courier"/>
              </a:rPr>
              <a:t> </a:t>
            </a:r>
            <a:r>
              <a:rPr>
                <a:solidFill>
                  <a:srgbClr val="902000"/>
                </a:solidFill>
                <a:latin typeface="Courier"/>
              </a:rPr>
              <a:t>Vec</a:t>
            </a:r>
            <a:r>
              <a:rPr>
                <a:solidFill>
                  <a:srgbClr val="666666"/>
                </a:solidFill>
                <a:latin typeface="Courier"/>
              </a:rPr>
              <a:t>&lt;</a:t>
            </a:r>
            <a:r>
              <a:rPr>
                <a:solidFill>
                  <a:srgbClr val="902000"/>
                </a:solidFill>
                <a:latin typeface="Courier"/>
              </a:rPr>
              <a:t>i32</a:t>
            </a:r>
            <a:r>
              <a:rPr>
                <a:solidFill>
                  <a:srgbClr val="666666"/>
                </a:solidFill>
                <a:latin typeface="Courier"/>
              </a:rPr>
              <a:t>&gt;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solidFill>
                  <a:srgbClr val="40A070"/>
                </a:solidFill>
                <a:latin typeface="Courier"/>
              </a:rPr>
              <a:t>10</a:t>
            </a:r>
            <a:r>
              <a:rPr>
                <a:latin typeface="Courier"/>
              </a:rPr>
              <a:t>)</a:t>
            </a:r>
            <a:r>
              <a:rPr>
                <a:solidFill>
                  <a:srgbClr val="666666"/>
                </a:solidFill>
                <a:latin typeface="Courier"/>
              </a:rPr>
              <a:t>.</a:t>
            </a:r>
            <a:r>
              <a:rPr>
                <a:latin typeface="Courier"/>
              </a:rPr>
              <a:t>collect()</a:t>
            </a:r>
            <a:r>
              <a:rPr>
                <a:solidFill>
                  <a:srgbClr val="666666"/>
                </a:solidFill>
                <a:latin typeface="Courier"/>
              </a:rPr>
              <a:t>;</a:t>
            </a:r>
            <a:br/>
            <a:r>
              <a:rPr>
                <a:latin typeface="Courier"/>
              </a:rPr>
              <a:t>    </a:t>
            </a:r>
            <a:r>
              <a:rPr b="1">
                <a:solidFill>
                  <a:srgbClr val="007020"/>
                </a:solidFill>
                <a:latin typeface="Courier"/>
              </a:rPr>
              <a:t>let</a:t>
            </a:r>
            <a:r>
              <a:rPr>
                <a:latin typeface="Courier"/>
              </a:rPr>
              <a:t> sum</a:t>
            </a:r>
            <a:r>
              <a:rPr>
                <a:solidFill>
                  <a:srgbClr val="666666"/>
                </a:solidFill>
                <a:latin typeface="Courier"/>
              </a:rPr>
              <a:t>:</a:t>
            </a:r>
            <a:r>
              <a:rPr>
                <a:latin typeface="Courier"/>
              </a:rPr>
              <a:t> </a:t>
            </a:r>
            <a:r>
              <a:rPr>
                <a:solidFill>
                  <a:srgbClr val="902000"/>
                </a:solidFill>
                <a:latin typeface="Courier"/>
              </a:rPr>
              <a:t>i32</a:t>
            </a:r>
            <a:r>
              <a:rPr>
                <a:latin typeface="Courier"/>
              </a:rPr>
              <a:t> </a:t>
            </a:r>
            <a:r>
              <a:rPr>
                <a:solidFill>
                  <a:srgbClr val="666666"/>
                </a:solidFill>
                <a:latin typeface="Courier"/>
              </a:rPr>
              <a:t>=</a:t>
            </a:r>
            <a:r>
              <a:rPr>
                <a:latin typeface="Courier"/>
              </a:rPr>
              <a:t> numbers</a:t>
            </a:r>
            <a:r>
              <a:rPr>
                <a:solidFill>
                  <a:srgbClr val="666666"/>
                </a:solidFill>
                <a:latin typeface="Courier"/>
              </a:rPr>
              <a:t>.</a:t>
            </a:r>
            <a:r>
              <a:rPr>
                <a:latin typeface="Courier"/>
              </a:rPr>
              <a:t>iter()</a:t>
            </a:r>
            <a:r>
              <a:rPr>
                <a:solidFill>
                  <a:srgbClr val="666666"/>
                </a:solidFill>
                <a:latin typeface="Courier"/>
              </a:rPr>
              <a:t>.</a:t>
            </a:r>
            <a:r>
              <a:rPr>
                <a:latin typeface="Courier"/>
              </a:rPr>
              <a:t>sum()</a:t>
            </a:r>
            <a:r>
              <a:rPr>
                <a:solidFill>
                  <a:srgbClr val="666666"/>
                </a:solidFill>
                <a:latin typeface="Courier"/>
              </a:rPr>
              <a:t>;</a:t>
            </a:r>
            <a:br/>
            <a:r>
              <a:rPr>
                <a:latin typeface="Courier"/>
              </a:rPr>
              <a:t>    </a:t>
            </a:r>
            <a:r>
              <a:rPr>
                <a:solidFill>
                  <a:srgbClr val="BC7A00"/>
                </a:solidFill>
                <a:latin typeface="Courier"/>
              </a:rPr>
              <a:t>println!</a:t>
            </a:r>
            <a:r>
              <a:rPr>
                <a:latin typeface="Courier"/>
              </a:rPr>
              <a:t>(</a:t>
            </a:r>
            <a:r>
              <a:rPr>
                <a:solidFill>
                  <a:srgbClr val="4070A0"/>
                </a:solidFill>
                <a:latin typeface="Courier"/>
              </a:rPr>
              <a:t>"Sum of 1..10 = {}"</a:t>
            </a:r>
            <a:r>
              <a:rPr>
                <a:solidFill>
                  <a:srgbClr val="666666"/>
                </a:solidFill>
                <a:latin typeface="Courier"/>
              </a:rPr>
              <a:t>,</a:t>
            </a:r>
            <a:r>
              <a:rPr>
                <a:latin typeface="Courier"/>
              </a:rPr>
              <a:t> sum)</a:t>
            </a:r>
            <a:r>
              <a:rPr>
                <a:solidFill>
                  <a:srgbClr val="666666"/>
                </a:solidFill>
                <a:latin typeface="Courier"/>
              </a:rPr>
              <a:t>;</a:t>
            </a:r>
            <a:br/>
            <a:r>
              <a:rPr>
                <a:solidFill>
                  <a:srgbClr val="666666"/>
                </a:solidFill>
                <a:latin typeface="Courier"/>
              </a:rPr>
              <a:t>}</a:t>
            </a:r>
          </a:p>
          <a:p>
            <a:pPr lvl="0" indent="0" marL="0">
              <a:spcBef>
                <a:spcPts val="3000"/>
              </a:spcBef>
              <a:buNone/>
            </a:pPr>
            <a:r>
              <a:rPr b="1"/>
              <a:t>Section 2: Tables and Links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Format</a:t>
                      </a:r>
                    </a:p>
                  </a:txBody>
                  <a:tcPr/>
                </a:tc>
                <a:tc>
                  <a:txBody>
                    <a:bodyPr/>
                    <a:lstStyle/>
                    <a:p>
                      <a:pPr lvl="0" indent="0" marL="0">
                        <a:buNone/>
                      </a:pPr>
                      <a:r>
                        <a:rPr/>
                        <a:t>Family</a:t>
                      </a:r>
                    </a:p>
                  </a:txBody>
                  <a:tcPr/>
                </a:tc>
                <a:tc>
                  <a:txBody>
                    <a:bodyPr/>
                    <a:lstStyle/>
                    <a:p>
                      <a:pPr lvl="0" indent="0" marL="0">
                        <a:buNone/>
                      </a:pPr>
                      <a:r>
                        <a:rPr/>
                        <a:t>Extension</a:t>
                      </a:r>
                    </a:p>
                  </a:txBody>
                  <a:tcPr/>
                </a:tc>
              </a:tr>
              <a:tr h="0">
                <a:tc>
                  <a:txBody>
                    <a:bodyPr/>
                    <a:lstStyle/>
                    <a:p>
                      <a:pPr lvl="0" indent="0" marL="0">
                        <a:buNone/>
                      </a:pPr>
                      <a:r>
                        <a:rPr/>
                        <a:t>PDF</a:t>
                      </a:r>
                    </a:p>
                  </a:txBody>
                </a:tc>
                <a:tc>
                  <a:txBody>
                    <a:bodyPr/>
                    <a:lstStyle/>
                    <a:p>
                      <a:pPr lvl="0" indent="0" marL="0">
                        <a:buNone/>
                      </a:pPr>
                      <a:r>
                        <a:rPr/>
                        <a:t>Page-based</a:t>
                      </a:r>
                    </a:p>
                  </a:txBody>
                </a:tc>
                <a:tc>
                  <a:txBody>
                    <a:bodyPr/>
                    <a:lstStyle/>
                    <a:p>
                      <a:pPr lvl="0" indent="0" marL="0">
                        <a:buNone/>
                      </a:pPr>
                      <a:r>
                        <a:rPr/>
                        <a:t>.pdf</a:t>
                      </a:r>
                    </a:p>
                  </a:txBody>
                </a:tc>
              </a:tr>
              <a:tr h="0">
                <a:tc>
                  <a:txBody>
                    <a:bodyPr/>
                    <a:lstStyle/>
                    <a:p>
                      <a:pPr lvl="0" indent="0" marL="0">
                        <a:buNone/>
                      </a:pPr>
                      <a:r>
                        <a:rPr/>
                        <a:t>Markdown</a:t>
                      </a:r>
                    </a:p>
                  </a:txBody>
                </a:tc>
                <a:tc>
                  <a:txBody>
                    <a:bodyPr/>
                    <a:lstStyle/>
                    <a:p>
                      <a:pPr lvl="0" indent="0" marL="0">
                        <a:buNone/>
                      </a:pPr>
                      <a:r>
                        <a:rPr/>
                        <a:t>Stream-based</a:t>
                      </a:r>
                    </a:p>
                  </a:txBody>
                </a:tc>
                <a:tc>
                  <a:txBody>
                    <a:bodyPr/>
                    <a:lstStyle/>
                    <a:p>
                      <a:pPr lvl="0" indent="0" marL="0">
                        <a:buNone/>
                      </a:pPr>
                      <a:r>
                        <a:rPr/>
                        <a:t>.md</a:t>
                      </a:r>
                    </a:p>
                  </a:txBody>
                </a:tc>
              </a:tr>
              <a:tr h="0">
                <a:tc>
                  <a:txBody>
                    <a:bodyPr/>
                    <a:lstStyle/>
                    <a:p>
                      <a:pPr lvl="0" indent="0" marL="0">
                        <a:buNone/>
                      </a:pPr>
                      <a:r>
                        <a:rPr/>
                        <a:t>EPUB</a:t>
                      </a:r>
                    </a:p>
                  </a:txBody>
                </a:tc>
                <a:tc>
                  <a:txBody>
                    <a:bodyPr/>
                    <a:lstStyle/>
                    <a:p>
                      <a:pPr lvl="0" indent="0" marL="0">
                        <a:buNone/>
                      </a:pPr>
                      <a:r>
                        <a:rPr/>
                        <a:t>Stream-based</a:t>
                      </a:r>
                    </a:p>
                  </a:txBody>
                </a:tc>
                <a:tc>
                  <a:txBody>
                    <a:bodyPr/>
                    <a:lstStyle/>
                    <a:p>
                      <a:pPr lvl="0" indent="0" marL="0">
                        <a:buNone/>
                      </a:pPr>
                      <a:r>
                        <a:rPr/>
                        <a:t>.epub</a:t>
                      </a:r>
                    </a:p>
                  </a:txBody>
                </a:tc>
              </a:tr>
              <a:tr h="0">
                <a:tc>
                  <a:txBody>
                    <a:bodyPr/>
                    <a:lstStyle/>
                    <a:p>
                      <a:pPr lvl="0" indent="0" marL="0">
                        <a:buNone/>
                      </a:pPr>
                      <a:r>
                        <a:rPr/>
                        <a:t>DOCX</a:t>
                      </a:r>
                    </a:p>
                  </a:txBody>
                </a:tc>
                <a:tc>
                  <a:txBody>
                    <a:bodyPr/>
                    <a:lstStyle/>
                    <a:p>
                      <a:pPr lvl="0" indent="0" marL="0">
                        <a:buNone/>
                      </a:pPr>
                      <a:r>
                        <a:rPr/>
                        <a:t>Page-based</a:t>
                      </a:r>
                    </a:p>
                  </a:txBody>
                </a:tc>
                <a:tc>
                  <a:txBody>
                    <a:bodyPr/>
                    <a:lstStyle/>
                    <a:p>
                      <a:pPr lvl="0" indent="0" marL="0">
                        <a:buNone/>
                      </a:pPr>
                      <a:r>
                        <a:rPr/>
                        <a:t>.docx</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more information, see the </a:t>
            </a:r>
            <a:r>
              <a:rPr>
                <a:hlinkClick r:id="rId2"/>
              </a:rPr>
              <a:t>project documentation</a:t>
            </a:r>
            <a:r>
              <a:rPr/>
              <a:t>.</a:t>
            </a:r>
          </a:p>
          <a:p>
            <a:pPr lvl="0" indent="0" marL="0">
              <a:spcBef>
                <a:spcPts val="3000"/>
              </a:spcBef>
              <a:buNone/>
            </a:pPr>
            <a:r>
              <a:rPr b="1"/>
              <a:t>Section 3: Block Quotes and Emphasis</a:t>
            </a:r>
          </a:p>
          <a:p>
            <a:pPr lvl="0" indent="0" marL="1270000">
              <a:buNone/>
            </a:pPr>
            <a:r>
              <a:rPr sz="2000"/>
              <a:t>“The best way to predict the future is to invent it.” – Alan Kay</a:t>
            </a:r>
          </a:p>
          <a:p>
            <a:pPr lvl="0" indent="0" marL="0">
              <a:buNone/>
            </a:pPr>
            <a:r>
              <a:rPr/>
              <a:t>This section tests </a:t>
            </a:r>
            <a:r>
              <a:rPr b="1"/>
              <a:t>bold</a:t>
            </a:r>
            <a:r>
              <a:rPr/>
              <a:t>, </a:t>
            </a:r>
            <a:r>
              <a:rPr i="1"/>
              <a:t>italic</a:t>
            </a:r>
            <a:r>
              <a:rPr/>
              <a:t>, </a:t>
            </a:r>
            <a:r>
              <a:rPr b="1" i="1"/>
              <a:t>bold italic</a:t>
            </a:r>
            <a:r>
              <a:rPr/>
              <a:t>, and </a:t>
            </a:r>
            <a:r>
              <a:rPr strike="sngStrike"/>
              <a:t>strikethrough</a:t>
            </a:r>
            <a:r>
              <a:rPr/>
              <a:t> formatting.</a:t>
            </a:r>
          </a:p>
          <a:p>
            <a:pPr lvl="0" indent="0" marL="0">
              <a:spcBef>
                <a:spcPts val="3000"/>
              </a:spcBef>
              <a:buNone/>
            </a:pPr>
            <a:r>
              <a:rPr b="1"/>
              <a:t>Conclusion</a:t>
            </a:r>
          </a:p>
          <a:p>
            <a:pPr lvl="0" indent="0" marL="0">
              <a:buNone/>
            </a:pPr>
            <a:r>
              <a:rPr/>
              <a:t>This document serves as a comprehensive test fixture for the stream-based document extraction and chunking pipeline. It validates that heading hierarchy, code blocks, tables, and inline formatting are correctly preserved through the ingestion process.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Markdown Document</dc:title>
  <dc:creator>Test Author</dc:creator>
  <cp:keywords/>
  <dcterms:created xsi:type="dcterms:W3CDTF">2026-02-15T19:59:00Z</dcterms:created>
  <dcterms:modified xsi:type="dcterms:W3CDTF">2026-02-15T19:59:00Z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2025-01-15</vt:lpwstr>
  </property>
  <property fmtid="{D5CDD505-2E9C-101B-9397-08002B2CF9AE}" pid="3" name="tags">
    <vt:lpwstr/>
  </property>
</Properties>
</file>